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notesMaster" Target="notesMasters/notesMaster1.xml" /><ns0:Relationship Id="rId11" Type="http://schemas.openxmlformats.org/officeDocument/2006/relationships/presProps" Target="presProps.xml" /><ns0:Relationship Id="rId12" Type="http://schemas.openxmlformats.org/officeDocument/2006/relationships/viewProps" Target="viewProps.xml" /><ns0:Relationship Id="rId13" Type="http://schemas.openxmlformats.org/officeDocument/2006/relationships/theme" Target="theme/theme1.xml" /><ns0:Relationship Id="rId14" Type="http://schemas.openxmlformats.org/officeDocument/2006/relationships/tableStyles" Target="tableStyles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/ns0: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-15240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 — THE INWARD JOURNEY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2095500"/>
            <a:ext cx="14287500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track everything.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1257300" y="3286125"/>
            <a:ext cx="14287500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Except ourselves.</a:t>
            </a:r>
            <a:endParaRPr lang="en-US" sz="8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144000" y="5715000"/>
            <a:ext cx="3048000" cy="19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3500" y="57150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MEASURE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33500" y="6286500"/>
            <a:ext cx="6667500" cy="2476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Steps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Finances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Calendars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Notifications</a:t>
            </a:r>
            <a:endParaRPr lang="en-US" sz="3900" dirty="0"/>
          </a:p>
        </p:txBody>
      </p:sp>
      <p:sp>
        <p:nvSpPr>
          <p:cNvPr id="9" name="Text 5"/>
          <p:cNvSpPr/>
          <p:nvPr/>
        </p:nvSpPr>
        <p:spPr>
          <a:xfrm>
            <a:off x="9715500" y="57150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LOSE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715500" y="6286500"/>
            <a:ext cx="6667500" cy="2476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Emotions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Motivations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Patterns</a:t>
            </a:r>
            <a:endParaRPr lang="en-US" sz="3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9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Meaning</a:t>
            </a:r>
            <a:endParaRPr lang="en-US" sz="3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525000"/>
            <a:ext cx="152400" cy="152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8300" y="9448800"/>
            <a:ext cx="1047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connected to the world. Quietly disconnected from ourselves.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-1905000" y="-1524000"/>
            <a:ext cx="7620000" cy="762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4287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don't we understand ourselves?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333500" y="3810000"/>
            <a:ext cx="104775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33500" y="4762500"/>
            <a:ext cx="123825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33500" y="5715000"/>
            <a:ext cx="123825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333500" y="6667500"/>
            <a:ext cx="1333500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have endless information about the world, and little clarity about ourselves.</a:t>
            </a:r>
            <a:endParaRPr lang="en-US" sz="3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8953500"/>
            <a:ext cx="15621000" cy="190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448800"/>
            <a:ext cx="152400" cy="152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38300" y="93726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430000" y="28575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3335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Existing solutions are fragmented.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257300" y="2714625"/>
            <a:ext cx="133350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5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381500"/>
            <a:ext cx="5334000" cy="533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05750" y="4667250"/>
            <a:ext cx="2476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Generic Journals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0287000" y="5715000"/>
            <a:ext cx="2095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Habit Trackers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0001250" y="7620000"/>
            <a:ext cx="2476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Therapy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7905750" y="9048750"/>
            <a:ext cx="2476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5810250" y="7620000"/>
            <a:ext cx="2095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5715000" y="5715000"/>
            <a:ext cx="2095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Habit Trackers</a:t>
            </a:r>
            <a:endParaRPr lang="en-US" sz="2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4695825"/>
            <a:ext cx="133350" cy="1333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3500" y="5143500"/>
            <a:ext cx="4381500" cy="198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lack a continuous, personalized space.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-15240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SWA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SWA — The Continuous Self-Awareness Journey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1333500" y="3143250"/>
            <a:ext cx="12382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moments of reflection, repeated consistently, to build lasting self-awareness.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33500" y="4572000"/>
            <a:ext cx="571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DAILY EXPERIENCE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33500" y="5143500"/>
            <a:ext cx="28575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381500" y="5143500"/>
            <a:ext cx="32385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001000" y="5143500"/>
            <a:ext cx="28575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1049000" y="5143500"/>
            <a:ext cx="30480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4287500" y="5143500"/>
            <a:ext cx="3048000" cy="790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2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6829425"/>
            <a:ext cx="15240000" cy="762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448800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38300" y="93726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2858750" y="3810000"/>
            <a:ext cx="7620000" cy="762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4287500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Daily Loop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257300" y="2762250"/>
            <a:ext cx="14287500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333500" y="4476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Morning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33500" y="48101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381500" y="4476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Day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381500" y="48101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Micro-Experiences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15250" y="4476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Evening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715250" y="48101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33500" y="58102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Over Time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333500" y="6143625"/>
            <a:ext cx="4953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Recognition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715250" y="58102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15250" y="6143625"/>
            <a:ext cx="3048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2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7239000"/>
            <a:ext cx="11430000" cy="190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33500" y="7715250"/>
            <a:ext cx="142875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continuous journey of micro-moments.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INTELLIGENCE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57300" y="1524000"/>
            <a:ext cx="142875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Continuous. Personalized. Psychologically Grounded.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3048000"/>
            <a:ext cx="3810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33500" y="3524250"/>
            <a:ext cx="304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Psychologically grounded. Human-reviewed. AI-personalized.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4000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33500" y="4857750"/>
            <a:ext cx="7239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5495925"/>
            <a:ext cx="7239000" cy="7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3500" y="6191250"/>
            <a:ext cx="32385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Reflective AI</a:t>
            </a:r>
            <a:endParaRPr lang="en-US" sz="4350" dirty="0"/>
          </a:p>
        </p:txBody>
      </p:sp>
      <p:sp>
        <p:nvSpPr>
          <p:cNvPr id="10" name="Text 7"/>
          <p:cNvSpPr/>
          <p:nvPr/>
        </p:nvSpPr>
        <p:spPr>
          <a:xfrm>
            <a:off x="1333500" y="6858000"/>
            <a:ext cx="3429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43500" y="6191250"/>
            <a:ext cx="32385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4350" dirty="0"/>
          </a:p>
        </p:txBody>
      </p:sp>
      <p:sp>
        <p:nvSpPr>
          <p:cNvPr id="12" name="Text 9"/>
          <p:cNvSpPr/>
          <p:nvPr/>
        </p:nvSpPr>
        <p:spPr>
          <a:xfrm>
            <a:off x="5143500" y="6858000"/>
            <a:ext cx="34290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33500" y="7810500"/>
            <a:ext cx="7239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F2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333500" y="9525000"/>
            <a:ext cx="723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3143250"/>
            <a:ext cx="6858000" cy="5905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82250" y="3429000"/>
            <a:ext cx="3810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475" y="6162675"/>
            <a:ext cx="5343525" cy="7620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848975" y="4352925"/>
            <a:ext cx="4010025" cy="76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82250" y="4000500"/>
            <a:ext cx="2095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4859000" y="62865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0" y="4381500"/>
            <a:ext cx="857250" cy="8572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478000" y="5381625"/>
            <a:ext cx="16192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1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7620000"/>
            <a:ext cx="381000" cy="38100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0" y="7048500"/>
            <a:ext cx="381000" cy="3810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382250" y="8382000"/>
            <a:ext cx="571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2857500"/>
            <a:ext cx="8572500" cy="857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1143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POSITIONING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257300" y="1809750"/>
            <a:ext cx="13335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 a habit tracker. Not a clinical therapist.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33500" y="4000500"/>
            <a:ext cx="285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33500" y="4381500"/>
            <a:ext cx="4191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33500" y="5048250"/>
            <a:ext cx="41910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67500" y="4000500"/>
            <a:ext cx="285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4381500"/>
            <a:ext cx="4191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8B8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reflective intelligence layer for your mind.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667500" y="5048250"/>
            <a:ext cx="4191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001500" y="4000500"/>
            <a:ext cx="285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001500" y="4381500"/>
            <a:ext cx="4381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D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/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2001500" y="5048250"/>
            <a:ext cx="43815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6829425"/>
            <a:ext cx="15049500" cy="762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448800"/>
            <a:ext cx="152400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38300" y="9372600"/>
            <a:ext cx="1333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Intersection of continuous awareness + personalized reflection + longitudinal tracking.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1F2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2382500" y="2857500"/>
            <a:ext cx="9525000" cy="952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6500" y="2857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 &amp; BUSINESS MODEL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476500" y="400050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5F3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Beachhead: College Students</a:t>
            </a:r>
            <a:endParaRPr lang="en-US" sz="6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905500"/>
            <a:ext cx="1905000" cy="19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76500" y="6477000"/>
            <a:ext cx="13335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Expansion: Professionals &amp; Organizations
Model: Free core journey + Premium deep-dive modules (Confidence, Communication)
TAM/SAM/SOM: [To be validated]</a:t>
            </a:r>
            <a:endParaRPr lang="en-US" sz="3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1F2D38"/>
        </a:solidFill>
      </p:bgPr>
    </p:bg>
    <p:spTree>
      <p:nvGrpSpPr>
        <p:cNvPr id="9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2382500" y="2857500"/>
            <a:ext cx="9525000" cy="9525000"/>
          </a:xfrm>
          <a:prstGeom prst="rect">
            <a:avLst/>
          </a:prstGeom>
        </p:spPr>
      </p:pic>
      <p:sp>
        <p:nvSpPr>
          <p:cNvPr id="9003" name="Text 0"/>
          <p:cNvSpPr/>
          <p:nvPr/>
        </p:nvSpPr>
        <p:spPr>
          <a:xfrm>
            <a:off x="2476500" y="2857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CURRENT STAGE</a:t>
            </a:r>
            <a:endParaRPr lang="en-US" sz="4800" dirty="0"/>
          </a:p>
        </p:txBody>
      </p:sp>
      <p:sp>
        <p:nvSpPr>
          <p:cNvPr id="9004" name="Text 1"/>
          <p:cNvSpPr/>
          <p:nvPr/>
        </p:nvSpPr>
        <p:spPr>
          <a:xfrm>
            <a:off x="2476500" y="400050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5F3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Base prototype complete</a:t>
            </a:r>
            <a:endParaRPr lang="en-US" sz="6000" dirty="0"/>
          </a:p>
        </p:txBody>
      </p:sp>
      <p:pic>
        <p:nvPicPr>
          <p:cNvPr id="900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905500"/>
            <a:ext cx="1905000" cy="19050"/>
          </a:xfrm>
          <a:prstGeom prst="rect">
            <a:avLst/>
          </a:prstGeom>
        </p:spPr>
      </p:pic>
      <p:sp>
        <p:nvSpPr>
          <p:cNvPr id="9006" name="Text 2"/>
          <p:cNvSpPr/>
          <p:nvPr/>
        </p:nvSpPr>
        <p:spPr>
          <a:xfrm>
            <a:off x="2476500" y="6477000"/>
            <a:ext cx="13335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Initiating college validation testing → Building personalization engine → Scaling.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1F2D38"/>
        </a:solidFill>
      </p:bgPr>
    </p:bg>
    <p:spTree>
      <p:nvGrpSpPr>
        <p:cNvPr id="1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2382500" y="2857500"/>
            <a:ext cx="9525000" cy="9525000"/>
          </a:xfrm>
          <a:prstGeom prst="rect">
            <a:avLst/>
          </a:prstGeom>
        </p:spPr>
      </p:pic>
      <p:sp>
        <p:nvSpPr>
          <p:cNvPr id="10003" name="Text 0"/>
          <p:cNvSpPr/>
          <p:nvPr/>
        </p:nvSpPr>
        <p:spPr>
          <a:xfrm>
            <a:off x="2476500" y="2857500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9AA6A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VISION &amp; ASK</a:t>
            </a:r>
            <a:endParaRPr lang="en-US" sz="4800" dirty="0"/>
          </a:p>
        </p:txBody>
      </p:sp>
      <p:sp>
        <p:nvSpPr>
          <p:cNvPr id="10004" name="Text 1"/>
          <p:cNvSpPr/>
          <p:nvPr/>
        </p:nvSpPr>
        <p:spPr>
          <a:xfrm>
            <a:off x="2476500" y="4000500"/>
            <a:ext cx="133350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5F3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SWA is building the infrastructure for an inward journey.</a:t>
            </a:r>
            <a:endParaRPr lang="en-US" sz="6000" dirty="0"/>
          </a:p>
        </p:txBody>
      </p:sp>
      <p:pic>
        <p:nvPicPr>
          <p:cNvPr id="1000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905500"/>
            <a:ext cx="1905000" cy="19050"/>
          </a:xfrm>
          <a:prstGeom prst="rect">
            <a:avLst/>
          </a:prstGeom>
        </p:spPr>
      </p:pic>
      <p:sp>
        <p:nvSpPr>
          <p:cNvPr id="10006" name="Text 2"/>
          <p:cNvSpPr/>
          <p:nvPr/>
        </p:nvSpPr>
        <p:spPr>
          <a:xfrm>
            <a:off x="2476500" y="6477000"/>
            <a:ext cx="13335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i="1" dirty="0">
                <a:solidFill>
                  <a:srgbClr val="C895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Ask:
Validation, mentorship, product guidance, and ecosystem network from Eureka.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9295407b-a2c6-4541-a588-228cf5849927</dc:title>
  <dc:subject>Presentation Export</dc:subject>
  <dc:creator>Design Export</dc:creator>
  <cp:lastModifiedBy>Design Export</cp:lastModifiedBy>
  <cp:revision>1</cp:revision>
  <dcterms:created xsi:type="dcterms:W3CDTF">2026-08-16T03:29:50Z</dcterms:created>
  <dcterms:modified xsi:type="dcterms:W3CDTF">2026-08-16T03:29:50Z</dcterms:modified>
</cp:coreProperties>
</file>